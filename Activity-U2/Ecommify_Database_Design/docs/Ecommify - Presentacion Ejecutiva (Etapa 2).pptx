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64592" cy="685800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3AA52"/>
                </a:solidFill>
                <a:latin typeface="Calibri"/>
              </a:rPr>
              <a:t>UNIVERSIDAD DE LA SABANA </a:t>
            </a:r>
            <a:r>
              <a:rPr lang="es-CO" sz="1300" b="1" dirty="0">
                <a:solidFill>
                  <a:srgbClr val="13AA52"/>
                </a:solidFill>
                <a:latin typeface="Calibri"/>
              </a:rPr>
              <a:t>· ARQUITECTURA DE SOFTWARE</a:t>
            </a:r>
            <a:endParaRPr sz="1300" b="1" dirty="0">
              <a:solidFill>
                <a:srgbClr val="13AA52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2E0"/>
                </a:solidFill>
                <a:latin typeface="Calibri"/>
              </a:rPr>
              <a:t>Diseño y Optimización de Bases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ECOMMIFY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8FB7D9"/>
                </a:solidFill>
                <a:latin typeface="Calibri"/>
              </a:rPr>
              <a:t>Arquitectura Híbrida de Datos: PostgreSQL +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86200"/>
            <a:ext cx="4572000" cy="4572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Etapa 2 — Entregable 1: Diseño Conceptual y Lógico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9C6D6"/>
                </a:solidFill>
                <a:latin typeface="Calibri"/>
              </a:rPr>
              <a:t>Resumen Ejecutivo de la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Equipo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6DEE8"/>
                </a:solidFill>
                <a:latin typeface="Calibri"/>
              </a:rPr>
              <a:t>Juan José Vélez Álvarez   ·   Juan Sebastián Buitrago Romero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6DEE8"/>
                </a:solidFill>
                <a:latin typeface="Calibri"/>
              </a:rPr>
              <a:t>Sergio Andrés Cobos Suárez   ·   David Aníbal Vásquez Beltrán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55F6E"/>
                </a:solidFill>
                <a:latin typeface="Calibri"/>
              </a:rP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Resumen ejecutivo y decisiones clave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7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Contexto del negocio y dataset Olist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Enfoque arquitectónico híbrido (políglota)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83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Análisis de requisitos y entidades del dominio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554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Diseño conceptual y restricciones de negocio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697480"/>
            <a:ext cx="548640" cy="54864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697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Diseño lógico PostgreSQL (3FN, tipos avanzados, particionamiento)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840480"/>
            <a:ext cx="548640" cy="54864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Diseño lógico MongoDB (colecciones y patrones)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983480"/>
            <a:ext cx="548640" cy="54864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98348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Calibri"/>
              </a:rPr>
              <a:t>Frontera de datos, reconciliación y validación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1 · VISIÓN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Resumen ejecutivo: decisiones clave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Arquitectura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políglota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híbrida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: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cada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dato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se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ubica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según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su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naturaleza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, no por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defecto</a:t>
            </a:r>
            <a:r>
              <a:rPr sz="1700" dirty="0">
                <a:solidFill>
                  <a:srgbClr val="222A38"/>
                </a:solidFill>
                <a:latin typeface="Calibri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700" b="1" dirty="0">
                <a:solidFill>
                  <a:srgbClr val="13AA52"/>
                </a:solidFill>
                <a:latin typeface="Calibri"/>
              </a:rPr>
              <a:t>–  </a:t>
            </a:r>
            <a:r>
              <a:rPr sz="1600" dirty="0">
                <a:solidFill>
                  <a:srgbClr val="222A38"/>
                </a:solidFill>
                <a:latin typeface="Calibri"/>
              </a:rPr>
              <a:t>PostgreSQL (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Supabase</a:t>
            </a:r>
            <a:r>
              <a:rPr sz="1600" dirty="0">
                <a:solidFill>
                  <a:srgbClr val="222A38"/>
                </a:solidFill>
                <a:latin typeface="Calibri"/>
              </a:rPr>
              <a:t>) →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núcleo</a:t>
            </a:r>
            <a:r>
              <a:rPr sz="1600" dirty="0">
                <a:solidFill>
                  <a:srgbClr val="222A38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transaccional</a:t>
            </a:r>
            <a:r>
              <a:rPr sz="1600" dirty="0">
                <a:solidFill>
                  <a:srgbClr val="222A38"/>
                </a:solidFill>
                <a:latin typeface="Calibri"/>
              </a:rPr>
              <a:t> ACID: Customers, Orders,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Order_Items</a:t>
            </a:r>
            <a:r>
              <a:rPr sz="1600" dirty="0">
                <a:solidFill>
                  <a:srgbClr val="222A38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Order_Payments</a:t>
            </a:r>
            <a:r>
              <a:rPr sz="1600" dirty="0">
                <a:solidFill>
                  <a:srgbClr val="222A38"/>
                </a:solidFill>
                <a:latin typeface="Calibri"/>
              </a:rPr>
              <a:t>, Sellers.</a:t>
            </a:r>
          </a:p>
          <a:p>
            <a:pPr lvl="1">
              <a:spcAft>
                <a:spcPts val="800"/>
              </a:spcAft>
            </a:pPr>
            <a:r>
              <a:rPr sz="1700" b="1" dirty="0">
                <a:solidFill>
                  <a:srgbClr val="13AA52"/>
                </a:solidFill>
                <a:latin typeface="Calibri"/>
              </a:rPr>
              <a:t>–  </a:t>
            </a:r>
            <a:r>
              <a:rPr sz="1600" dirty="0">
                <a:solidFill>
                  <a:srgbClr val="222A38"/>
                </a:solidFill>
                <a:latin typeface="Calibri"/>
              </a:rPr>
              <a:t>MongoDB Atlas (M0) →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capa</a:t>
            </a:r>
            <a:r>
              <a:rPr sz="1600" dirty="0">
                <a:solidFill>
                  <a:srgbClr val="222A38"/>
                </a:solidFill>
                <a:latin typeface="Calibri"/>
              </a:rPr>
              <a:t> documental flexible: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catálogo</a:t>
            </a:r>
            <a:r>
              <a:rPr sz="1600" dirty="0">
                <a:solidFill>
                  <a:srgbClr val="222A38"/>
                </a:solidFill>
                <a:latin typeface="Calibri"/>
              </a:rPr>
              <a:t> (Products) y 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reseñas</a:t>
            </a:r>
            <a:r>
              <a:rPr sz="1600" dirty="0">
                <a:solidFill>
                  <a:srgbClr val="222A38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222A38"/>
                </a:solidFill>
                <a:latin typeface="Calibri"/>
              </a:rPr>
              <a:t>Order_Reviews</a:t>
            </a:r>
            <a:r>
              <a:rPr sz="1600" dirty="0">
                <a:solidFill>
                  <a:srgbClr val="222A38"/>
                </a:solidFill>
                <a:latin typeface="Calibri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>
                <a:solidFill>
                  <a:srgbClr val="222A38"/>
                </a:solidFill>
                <a:latin typeface="Calibri"/>
              </a:rPr>
              <a:t>Frontera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definida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por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consistencia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estructura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del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dato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y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patrón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de consulta (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Teorema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CAP).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Normalización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mínimo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3FN: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elimina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dependencias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parciales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y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transitivas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de la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tabla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orders_full</a:t>
            </a:r>
            <a:r>
              <a:rPr sz="1700" dirty="0">
                <a:solidFill>
                  <a:srgbClr val="222A38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Tipos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avanzados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de PostgreSQL (JSONB, arrays,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rangos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)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donde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la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estructura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variable lo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justifica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>
                <a:solidFill>
                  <a:srgbClr val="222A38"/>
                </a:solidFill>
                <a:latin typeface="Calibri"/>
              </a:rPr>
              <a:t>Clave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compartida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product_id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reconciliada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por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lotes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en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Colab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(no hay Change Streams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en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M0).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336791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Prioridades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: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integridad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transaccional</a:t>
            </a:r>
            <a:r>
              <a:rPr sz="1700" dirty="0">
                <a:solidFill>
                  <a:srgbClr val="222A38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flexibilidad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del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catálogo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y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escalabilidad</a:t>
            </a:r>
            <a:r>
              <a:rPr sz="1700" dirty="0">
                <a:solidFill>
                  <a:srgbClr val="222A38"/>
                </a:solidFill>
                <a:latin typeface="Calibri"/>
              </a:rPr>
              <a:t>, dentro de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plataformas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8"/>
                </a:solidFill>
                <a:latin typeface="Calibri"/>
              </a:rPr>
              <a:t>gratuitas</a:t>
            </a:r>
            <a:r>
              <a:rPr sz="1700" dirty="0">
                <a:solidFill>
                  <a:srgbClr val="222A38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554480"/>
            <a:ext cx="3840480" cy="4480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7373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6791"/>
                </a:solidFill>
                <a:latin typeface="Calibri"/>
              </a:rPr>
              <a:t>EN CIFRAS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4028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3AA52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24028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entidades del dominio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15468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3AA52"/>
                </a:solidFill>
                <a:latin typeface="Calibri"/>
              </a:rPr>
              <a:t>3FN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15468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nivel de normalización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06908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3AA52"/>
                </a:solidFill>
                <a:latin typeface="Calibri"/>
              </a:rP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06908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restricciones (R-01–R-26)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98348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3AA52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98348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motores de base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2 · 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Contexto del negocio y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Ecommify: plataforma de e-commerce que gestiona el ciclo completo de compra en línea.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Base de datos sobre el Brazilian E-Commerce Public Dataset (Olist): 9 tablas relacionadas.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Naturaleza dual del dato: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Núcleo transaccional estructurado con integridad referencial total (cero huérfanos en el EDA).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Catálogo con esquema variable y reseñas con texto libre.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Hallazgos del EDA que guían el diseño: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32.951 productos en 73 categorías con atributos heterogéneos.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~58,7% de los comentarios de reseña son nulos (score estructurado + texto opcional).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Geolocation supera el millón de registros (alto volumen).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554480"/>
            <a:ext cx="3840480" cy="4480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7830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3AA52"/>
                </a:solidFill>
                <a:latin typeface="Calibri"/>
              </a:rPr>
              <a:t>DATASET OLIST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860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~100K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C6D6"/>
                </a:solidFill>
                <a:latin typeface="Calibri"/>
              </a:rPr>
              <a:t>pedidos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00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32.951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6118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C6D6"/>
                </a:solidFill>
                <a:latin typeface="Calibri"/>
              </a:rPr>
              <a:t>productos · 73 categorías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114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99.224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526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C6D6"/>
                </a:solidFill>
                <a:latin typeface="Calibri"/>
              </a:rPr>
              <a:t>reseñas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&gt;1M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4406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C6D6"/>
                </a:solidFill>
                <a:latin typeface="Calibri"/>
              </a:rPr>
              <a:t>registros de geolocalización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3 ·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Enfoque arquitectónico híbrido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55F6E"/>
                </a:solidFill>
                <a:latin typeface="Calibri"/>
              </a:rPr>
              <a:t>Persistencia políglota: el motor se elige según consistencia, estructura y patrón de consulta.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5212080" cy="4023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212080" cy="64008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PostgreSQL · Supabase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Módulo transaccional (OLTP)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Customers, Orders, Order_Items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Order_Payments, Sellers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Geolocation (deduplicada)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Integridad referencial ACID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Normalización 3FN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828800"/>
            <a:ext cx="5212080" cy="4023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792" y="1828800"/>
            <a:ext cx="5212080" cy="64008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874519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MongoDB · Atlas M0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517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Módulo documental (catálogo y analítica)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Products + categoría embebida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Order_Reviews (texto libre)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Esquema flexible por categoría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Vistas, comportamiento y recomendaciones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6791"/>
                </a:solidFill>
                <a:latin typeface="Calibri"/>
              </a:rPr>
              <a:t>▪  </a:t>
            </a:r>
            <a:r>
              <a:rPr sz="1500">
                <a:solidFill>
                  <a:srgbClr val="222A38"/>
                </a:solidFill>
                <a:latin typeface="Calibri"/>
              </a:rPr>
              <a:t>Disponibilidad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4 ·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Análisis de requisitos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49240" cy="50292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Funcionales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Gestión de órdenes: ciclo de vida, estados y fechas.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Entidades comerciales: clientes y vendedores con geolocalización.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Catálogo heterogéneo con traducción de categorías.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Transacciones financieras: pagos múltiples y secuenciales.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Retroalimentación: reseñas vinculadas a pedidos.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5349240" cy="50292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 funcionales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0574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Integridad y consistencia: normalización mínima 3FN.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Escalabilidad de lectura (OLAP): desnormalización estratégica y vistas materializadas.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Rendimiento en altos volúmenes: tablas estructurales de gran peso (Geolocation &gt; 1M) sin degradar el OLTP.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4 ·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Entidades del dominio (9)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6675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Entidad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 en el dominio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Clientes que generan pedidos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Transacción principal del negocio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Order_Items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Ítem individual dentro de un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Artículo vendido (catálogo)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Category_Translation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Clasificación / traducción del producto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Vendedor responsable de cada ítem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Order_Payments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Forma y valor del pago del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Order_Reviews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Evaluación post-entrega del cliente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Geolocation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A38"/>
                          </a:solidFill>
                          <a:latin typeface="Calibri"/>
                        </a:rPr>
                        <a:t>Coordenadas por prefijo postal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35240" y="1417320"/>
            <a:ext cx="3931920" cy="4572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645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3AA52"/>
                </a:solidFill>
                <a:latin typeface="Calibri"/>
              </a:rPr>
              <a:t>CLAVES COMPARTIDAS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566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product_id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order_id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customer_id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48056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7D2E0"/>
                </a:solidFill>
                <a:latin typeface="Calibri"/>
              </a:rPr>
              <a:t>Reconcilian la capa relacional y la documental entre PostgreSQL y MongoDB.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5 · REGLAS DEL DOMINIO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Restricciones de negocio (26)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630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Implementación principal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Integridad referencial (R-01–R-06)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FOREIGN KEY + ON DELETE RESTRICT / CASCADE / SET NULL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Dominio (R-07–R-13)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CHECK sobre columnas individuales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Negocio (R-14–R-19)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CHECK entre columnas + UNIQUE + triggers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Operacional (R-20–R-23)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ETL en Colab + monitoreo (límites Supabase / Atlas M0)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Seguridad / privacidad (R-24–R-26)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Diseño del modelo + PRIMARY KEY (IDs anonimizados)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F6E"/>
                </a:solidFill>
                <a:latin typeface="Calibri"/>
              </a:rPr>
              <a:t>Ejemplos: score de reseña ∈ [1,5]; estados de orden válidos; fecha de aprobación ≥ compra; un pago no repite secuencia; review_id único para no inflar puntuaciones.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6 ·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Diseño lógico PostgreSQL — Normalización 3FN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Se parte de la tabla desnormalizada orders_full y se eliminan anomalías forma por forma: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1FN: ítems y pagos múltiples → entidades Order_Items y Order_Payments (filas atómicas).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2FN: atributos del producto dependientes solo de product_id → entidad Products.</a:t>
            </a:r>
          </a:p>
          <a:p>
            <a:pPr lvl="1">
              <a:spcAft>
                <a:spcPts val="800"/>
              </a:spcAft>
            </a:pPr>
            <a:r>
              <a:rPr sz="1700" b="1">
                <a:solidFill>
                  <a:srgbClr val="13AA52"/>
                </a:solidFill>
                <a:latin typeface="Calibri"/>
              </a:rPr>
              <a:t>–  </a:t>
            </a:r>
            <a:r>
              <a:rPr sz="1600">
                <a:solidFill>
                  <a:srgbClr val="222A38"/>
                </a:solidFill>
                <a:latin typeface="Calibri"/>
              </a:rPr>
              <a:t>3FN: ciudad/estado (transitivos del zip) → Geolocation; traducción → Category_Translation.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4290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Forma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Anomalía corregida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Decisión de diseño</a:t>
                      </a:r>
                    </a:p>
                  </a:txBody>
                  <a:tcPr marL="73152" marR="73152" marT="27432" marB="27432" anchor="ctr">
                    <a:solidFill>
                      <a:srgbClr val="162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1FN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Grupos repetitivos en el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Order_Items y Order_Payments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2FN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Atributos de producto en la línea de pedido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Movidos a Products (PK retiene lo dependiente de la clave completa)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3FN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ciudad/estado según zip; traducción según categoría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8"/>
                          </a:solidFill>
                          <a:latin typeface="Calibri"/>
                        </a:rPr>
                        <a:t>Entidades Geolocation y Category_Translation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6 ·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PostgreSQL — Tipos avanzados, extensiones y particiones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3520440" cy="45720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389888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Tipos avanzados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composite dimension_cm (dimensiones)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JSONB extra_attributes (catálogo) + GIN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array photo_urls (multivaluado) + GIN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tstzrange delivery_window + GiST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3520440" cy="45720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389888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Extensiones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pgcrypto (UUID)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unaccent + pg_trgm (búsqueda difusa)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btree_gin / btree_gist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postgis (geoespacial)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pg_stat_statements (optimización)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520440" cy="4572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389888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Particionamiento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Orders: RANGE por fecha de compra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Geolocation: LIST por estado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Partition pruning en reportes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Diferido en tablas de hechos menores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Todo el DDL de esta sección fue validado contra PostgreSQL 16 (ejecución sin errores).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7 ·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Diseño lógico preliminar —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49240" cy="457200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Colecciones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products — catálogo enriquecido y flexible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reviews — reseñas con texto libre y análisis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product_catalog_view — vista desnormalizada para frontend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user_behavior — eventos de navegación (sintéticos)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recommendations — sugerencias precalculadas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5349240" cy="45720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Patrones de modelado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Embedding — datos consultados juntos (categoría, dimensiones, comentarios).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Referencing — claves compartidas (product_id, order_id, customer_id).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Computed Pattern — métricas precalculadas (promedio, ventas).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6791"/>
                </a:solidFill>
                <a:latin typeface="Calibri"/>
              </a:rPr>
              <a:t>▪  </a:t>
            </a:r>
            <a:r>
              <a:rPr sz="1400">
                <a:solidFill>
                  <a:srgbClr val="222A38"/>
                </a:solidFill>
                <a:latin typeface="Calibri"/>
              </a:rPr>
              <a:t>Subset Pattern — solo lo más consultado (límite Atlas M0).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3840480" cy="5486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3AA52"/>
                </a:solidFill>
                <a:latin typeface="Calibri"/>
              </a:rPr>
              <a:t>8 · CIERRE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Frontera de datos, reconciliación y estado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E"/>
                </a:solidFill>
                <a:latin typeface="Calibri"/>
              </a:rPr>
              <a:t>Ecommify · Arquitectura Híbrida PostgreSQL +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55F6E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Criterio de frontera (CAP): consistencia fuerte y relaciones estrictas → PostgreSQL; flexibilidad y lectura intensiva → MongoDB.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PostgreSQL conserva order_reviews por integridad; MongoDB lo explota como capa analítica.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Sincronización por lotes vía ETL en Colab: cruza product_id entre ambos sistemas (sin Change Streams en M0).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6791"/>
                </a:solidFill>
                <a:latin typeface="Calibri"/>
              </a:rPr>
              <a:t>▪  </a:t>
            </a:r>
            <a:r>
              <a:rPr sz="1700">
                <a:solidFill>
                  <a:srgbClr val="222A38"/>
                </a:solidFill>
                <a:latin typeface="Calibri"/>
              </a:rPr>
              <a:t>Diccionario de datos y trade-offs documentados en el entregable.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554480"/>
            <a:ext cx="3886200" cy="4206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7373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6791"/>
                </a:solidFill>
                <a:latin typeface="Calibri"/>
              </a:rPr>
              <a:t>ESTADO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2860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DDL validado en PostgreSQL 16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0 registros huérfanos (M4)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Repositorio + Pull Request creados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336791"/>
                </a:solidFill>
                <a:latin typeface="Calibri"/>
              </a:rPr>
              <a:t>▪  </a:t>
            </a:r>
            <a:r>
              <a:rPr sz="1250">
                <a:solidFill>
                  <a:srgbClr val="222A38"/>
                </a:solidFill>
                <a:latin typeface="Calibri"/>
              </a:rPr>
              <a:t>Notebooks EDA + MongoDB Atlas ejecutados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13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4572000" cy="73152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089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36791"/>
                </a:solidFill>
                <a:latin typeface="Calibri"/>
              </a:rPr>
              <a:t>▪  </a:t>
            </a:r>
            <a:r>
              <a:rPr sz="1600">
                <a:solidFill>
                  <a:srgbClr val="DDE4EC"/>
                </a:solidFill>
                <a:latin typeface="Calibri"/>
              </a:rPr>
              <a:t>El diseño híbrido equilibra integridad transaccional (PostgreSQL/3FN) y flexibilidad del catálogo (MongoDB).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36791"/>
                </a:solidFill>
                <a:latin typeface="Calibri"/>
              </a:rPr>
              <a:t>▪  </a:t>
            </a:r>
            <a:r>
              <a:rPr sz="1600">
                <a:solidFill>
                  <a:srgbClr val="DDE4EC"/>
                </a:solidFill>
                <a:latin typeface="Calibri"/>
              </a:rPr>
              <a:t>Las 26 restricciones traducen las reglas del negocio a integridad declarativa verificable.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36791"/>
                </a:solidFill>
                <a:latin typeface="Calibri"/>
              </a:rPr>
              <a:t>▪  </a:t>
            </a:r>
            <a:r>
              <a:rPr sz="1600">
                <a:solidFill>
                  <a:srgbClr val="DDE4EC"/>
                </a:solidFill>
                <a:latin typeface="Calibri"/>
              </a:rPr>
              <a:t>Próximo: diseño físico, índices de optimización y carga del dataset completo con medición de rendimiento.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FB7D9"/>
                </a:solidFill>
                <a:latin typeface="Calibri"/>
              </a:rPr>
              <a:t>Gracias — Equipo Ecommify · Universidad de la Sabana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1523</Words>
  <Application>Microsoft Office PowerPoint</Application>
  <PresentationFormat>Panorámica</PresentationFormat>
  <Paragraphs>232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 Sebastian Buitrago Romero</cp:lastModifiedBy>
  <cp:revision>3</cp:revision>
  <dcterms:created xsi:type="dcterms:W3CDTF">2013-01-27T09:14:16Z</dcterms:created>
  <dcterms:modified xsi:type="dcterms:W3CDTF">2026-05-25T23:45:22Z</dcterms:modified>
  <cp:category/>
</cp:coreProperties>
</file>